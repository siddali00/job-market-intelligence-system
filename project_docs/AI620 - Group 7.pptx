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6af0b3b85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6af0b3b85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6af0b3b85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6af0b3b85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6af0b3b85_1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6af0b3b85_1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6af0b3b85_1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6af0b3b85_1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Market Intelligence System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64950" y="3157300"/>
            <a:ext cx="2306400" cy="18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Abdullah Khurram Vohra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Syed Muhammad Abu Talib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Burhan Ahmed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Muhammad Ali Siddiqui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1022275"/>
            <a:ext cx="32745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820050" y="1793500"/>
            <a:ext cx="3866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Job </a:t>
            </a:r>
            <a:r>
              <a:rPr lang="en"/>
              <a:t>market</a:t>
            </a:r>
            <a:r>
              <a:rPr lang="en"/>
              <a:t> data is deeply siloed across platforms, inconsistent, and hard to access.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leads to a lack of in-depth analysis of the job market.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Resulting in poor career decisions and outdated curricula in universities and bootcamps.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Need a unified schema to view and analyse skills and salary data for job seekers and educators.</a:t>
            </a:r>
            <a:endParaRPr/>
          </a:p>
        </p:txBody>
      </p:sp>
      <p:sp>
        <p:nvSpPr>
          <p:cNvPr id="142" name="Google Shape;142;p14"/>
          <p:cNvSpPr txBox="1"/>
          <p:nvPr>
            <p:ph idx="2" type="body"/>
          </p:nvPr>
        </p:nvSpPr>
        <p:spPr>
          <a:xfrm>
            <a:off x="4933221" y="179350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Automatically aggregate and analyse job data, from multiple platforms and datasets.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a analytics dashboard that illustrates: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Skill demand trends over time.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Salary distributions by role and location.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Remote v.s. onsite opportunities.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 txBox="1"/>
          <p:nvPr>
            <p:ph type="title"/>
          </p:nvPr>
        </p:nvSpPr>
        <p:spPr>
          <a:xfrm>
            <a:off x="4933225" y="1051725"/>
            <a:ext cx="34032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&amp; Outcomes</a:t>
            </a:r>
            <a:endParaRPr/>
          </a:p>
        </p:txBody>
      </p:sp>
      <p:sp>
        <p:nvSpPr>
          <p:cNvPr id="144" name="Google Shape;144;p14"/>
          <p:cNvSpPr txBox="1"/>
          <p:nvPr>
            <p:ph type="title"/>
          </p:nvPr>
        </p:nvSpPr>
        <p:spPr>
          <a:xfrm>
            <a:off x="1820775" y="309950"/>
            <a:ext cx="56736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Design: E2E Medallion Pipeline</a:t>
            </a:r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1297500" y="1236375"/>
            <a:ext cx="3546600" cy="32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310" u="sng"/>
              <a:t>Ingestion</a:t>
            </a:r>
            <a:endParaRPr b="1" sz="1310" u="sng"/>
          </a:p>
          <a:p>
            <a:pPr indent="-29273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0"/>
              <a:buChar char="-"/>
            </a:pPr>
            <a:r>
              <a:rPr lang="en" sz="1010"/>
              <a:t>APIs: Adzuna, Remotive</a:t>
            </a:r>
            <a:endParaRPr sz="1010"/>
          </a:p>
          <a:p>
            <a:pPr indent="-29273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0"/>
              <a:buChar char="-"/>
            </a:pPr>
            <a:r>
              <a:rPr lang="en" sz="1010"/>
              <a:t>Datasets: Kaggle, HF</a:t>
            </a:r>
            <a:endParaRPr sz="1010"/>
          </a:p>
          <a:p>
            <a:pPr indent="-29273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0"/>
              <a:buChar char="-"/>
            </a:pPr>
            <a:r>
              <a:rPr lang="en" sz="1010"/>
              <a:t>Batch ingestion (scheduled via cron jobs)</a:t>
            </a:r>
            <a:endParaRPr sz="1010"/>
          </a:p>
          <a:p>
            <a:pPr indent="-29273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0"/>
              <a:buChar char="-"/>
            </a:pPr>
            <a:r>
              <a:rPr lang="en" sz="1010"/>
              <a:t>Orchestrated using Prefect</a:t>
            </a:r>
            <a:endParaRPr sz="10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10" u="sng"/>
              <a:t>Storage</a:t>
            </a:r>
            <a:endParaRPr b="1" sz="1310" u="sng"/>
          </a:p>
          <a:p>
            <a:pPr indent="-29273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0"/>
              <a:buChar char="-"/>
            </a:pPr>
            <a:r>
              <a:rPr lang="en" sz="1010"/>
              <a:t>Landing/Bronze: Raw JSON in object storage</a:t>
            </a:r>
            <a:endParaRPr sz="1010"/>
          </a:p>
          <a:p>
            <a:pPr indent="-29273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0"/>
              <a:buChar char="-"/>
            </a:pPr>
            <a:r>
              <a:rPr lang="en" sz="1010"/>
              <a:t>Silver/Gold: Cleaned + structured data in PostgreSQL</a:t>
            </a:r>
            <a:endParaRPr sz="1010"/>
          </a:p>
          <a:p>
            <a:pPr indent="-29273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0"/>
              <a:buChar char="-"/>
            </a:pPr>
            <a:r>
              <a:rPr lang="en" sz="1010"/>
              <a:t>Partitioned by source and timestamp</a:t>
            </a:r>
            <a:endParaRPr sz="10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10" u="sng"/>
              <a:t>Data Processing (Medallion Architecture)</a:t>
            </a:r>
            <a:endParaRPr b="1" sz="1310" u="sng"/>
          </a:p>
          <a:p>
            <a:pPr indent="-2978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91"/>
              <a:buChar char="-"/>
            </a:pPr>
            <a:r>
              <a:rPr lang="en" sz="1091"/>
              <a:t>Bronze → raw ingestion</a:t>
            </a:r>
            <a:endParaRPr sz="1091"/>
          </a:p>
          <a:p>
            <a:pPr indent="-2978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91"/>
              <a:buChar char="-"/>
            </a:pPr>
            <a:r>
              <a:rPr lang="en" sz="1091"/>
              <a:t>Silver → cleaning, deduplication, normalization</a:t>
            </a:r>
            <a:endParaRPr sz="1091"/>
          </a:p>
          <a:p>
            <a:pPr indent="-2978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91"/>
              <a:buChar char="-"/>
            </a:pPr>
            <a:r>
              <a:rPr lang="en" sz="1091"/>
              <a:t>Gold → aggregated analytics tables</a:t>
            </a:r>
            <a:endParaRPr sz="1091"/>
          </a:p>
          <a:p>
            <a:pPr indent="-2978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91"/>
              <a:buChar char="-"/>
            </a:pPr>
            <a:r>
              <a:rPr lang="en" sz="1091"/>
              <a:t>Implemented using Python (Pandas / PySpark)</a:t>
            </a:r>
            <a:endParaRPr sz="1091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010"/>
          </a:p>
        </p:txBody>
      </p:sp>
      <p:sp>
        <p:nvSpPr>
          <p:cNvPr id="151" name="Google Shape;151;p15"/>
          <p:cNvSpPr txBox="1"/>
          <p:nvPr/>
        </p:nvSpPr>
        <p:spPr>
          <a:xfrm>
            <a:off x="5327025" y="1163925"/>
            <a:ext cx="3546600" cy="30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Serving Layer</a:t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FastAPI → REST API endpoints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Streamlit  / React JS→ interactive dashboard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Real-time querying from Gold tables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Infrastructure &amp; Ops</a:t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Prefect → orchestration + scheduling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Database -&gt; PostGreSQL ( free tiers using Render/ Railway 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Backend -&gt; Render/ Railway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Dashboard ( Streamlit, Vercel for React JS 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Docker → containerization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-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Logging, retries, and monitoring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to Date: Data Acquired!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Identified data sources for ingestion.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Created a preliminary schema.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Challenges encountered: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API rate-limits for API data sources may affect ingestion in our current plan.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Main concern of data quality and inconsistent schema.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High duplication across sources (same region’s job listings will overlap).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</a:t>
            </a:r>
            <a:r>
              <a:rPr lang="en"/>
              <a:t>cleaning, transformation and unification.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Finalise Gold layer metrics for the dashboard.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Designing the </a:t>
            </a:r>
            <a:r>
              <a:rPr b="1" lang="en"/>
              <a:t>Prefect</a:t>
            </a:r>
            <a:r>
              <a:rPr lang="en"/>
              <a:t> orchestration pipeline.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Dashboard UI and backend integration.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